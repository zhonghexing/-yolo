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3.svg" ContentType="image/svg+xml"/>
  <Override PartName="/ppt/media/image105.svg" ContentType="image/svg+xml"/>
  <Override PartName="/ppt/media/image108.svg" ContentType="image/svg+xml"/>
  <Override PartName="/ppt/media/image1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4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7.svg" ContentType="image/svg+xml"/>
  <Override PartName="/ppt/media/image70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6.svg" ContentType="image/svg+xml"/>
  <Override PartName="/ppt/media/image89.svg" ContentType="image/svg+xml"/>
  <Override PartName="/ppt/media/image9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custDataLst>
    <p:tags r:id="rId2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4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评委老师，大家好！我们是来自[学校名称]的[团队名称]，今天我们带来的参赛作品是“基于AI视觉的工业零件缺陷检测方案”。随着工业4.0的深入发展，智能制造对自动化质检的需求日益迫切。我们的方案旨在利用先进的AI视觉技术，解决传统人工检测效率低、精度不稳定等痛点，为制造业的智能化升级贡献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七个部分，首先我们将分析项目的背景和当前工业质检面临的痛点；接着详细介绍我们提出的解决方案和系统架构；然后阐述数据采集与标注的具体流程；之后说明模型的选择与训练过程；展示模型的实际效果和性能评估结果；最后总结项目的创新点、应用价值，并对未来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背景。在工业4.0的大趋势下，传统的人工质检模式已经越来越难以适应现代化生产的需求。正如大家在右侧看到的，左边是传统的人工检测，效率低下且容易出错；右边是我们追求的自动化视觉检测，高效、精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人工检测主要存在四大痛点：效率低、精度不稳定、成本高以及数据缺失，这些都严重制约了生产效率和产品质量的提升。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提出了基于YOLOv8深度学习模型的端到端解决方案。右侧是我们的系统架构图，它主要分为四个层次：首先是图像采集层，负责获取零件图像；然后是数据预处理层，对图像进行优化；接着是核心的模型推理层，由YOLOv8模型完成缺陷检测；最后是结果输出层，将检测结果可视化并提供反馈。这套架构实现了从图像输入到结果输出的全自动化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根据比赛要求，我们精心准备了20个不重复的检测样本，涵盖了正常件以及划痕、缺角、变形、混料等多种缺陷类型，确保样本的多样性和代表性。这是我们所有样本的清单，每个样本都有唯一的编号和明确的类别标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模型对前10个样本的实际识别结果。从表格中可以看到，除了第9号轻微划痕样本被误判外，其余9个样本均被正确识别。这表明模型在大多数情况下具有较高的可靠性，但在处理边缘模糊或轻微缺陷时仍有提升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这是后10个样本的识别结果，所有样本均被正确识别。综合全部20个样本的检测结果，我们的模型整体准确率达到了95%，充分证明了其高质量和可靠性。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用户直观地了解检测结果，我们设计了丰富的反馈机制。左边展示的是合格件的反馈效果，绿色的框体和语音提示清晰地表明零件合格。右边则是缺陷件的反馈效果，红色的框体、弹窗警告和语音提示会立即提醒操作人员，并记录相关信息，实现了从检测到处理的无缝衔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高质量的数据是模型成功的关键。我们采集了20个不同状态的工业零件样本，包括正常件和多种缺陷件。为了保证数据的一致性，我们采用固定的拍摄条件。随后，使用LabelImg工具对这些图像进行标注，为模型训练提供准确的标签。下方展示的就是我们采集的部分样本图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在模型选择上，我们选用了当前主流的YOLOv8模型，它在速度和精度之间取得了很好的平衡。我们在百度AI Studio平台上进行训练，设置了合理的超参数。右侧的图表展示了YOLOv8的网络结构以及我们模型训练过程中的损失曲线，可以看到，随着训练的进行，模型的性能不断优化。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接下来展示模型的实际检测效果。首先是对正常零件的检测，大家可以看到，模型能够准确地用绿色框框选出正常零件，并标注“合格”，这表明模型对正常状态的识别非常可靠。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对于带有划痕的缺陷零件，模型同样表现出色。它能精准地用红色框标记出划痕区域，并明确标注“划痕缺陷”，无论是轻微划痕还是较深的划痕，都能有效识别。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量化评估模型性能，我们采用了准确率、召回率、mAP和推理速度四个关键指标。从右侧的雷达图可以看出，我们的模型在各项指标上都表现优异，准确率达到95%，推理速度也满足实时检测的要求，整体性能达到了预期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方案有四个主要的创新点和技术亮点：首先，我们采用了轻量化的YOLOv8-nano模型，兼顾了速度和精度；其次，通过数据增强策略，提升了模型在复杂工业环境下的鲁棒性；第三，我们设计了完善的实时反馈机制，方便用户使用和数据追溯；最后，我们提供了便捷的部署方案，降低了应用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方案具有显著的应用价值和社会意义。在经济效益上，它能有效降低成本、提高效率；在质量层面，实现了全检，保障了产品品质；在社会层面，它推动了制造业的智能化转型；在环境层面，也符合绿色制造的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成功构建了这套工业零件缺陷检测系统，实现了预期目标。展望未来，我们计划进一步扩展检测种类，优化模型性能，并开发更完善的配套系统，最终希望能与工业机器人集成，实现从检测到分拣的全自动化，为智能制造贡献更大的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我们的团队由三名成员组成，分别负责算法设计、数据采集和系统部署，大家分工协作，共同完成了这个项目。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我的汇报到此结束，感谢各位评委老师的聆听和指导！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30.svg"/><Relationship Id="rId20" Type="http://schemas.openxmlformats.org/officeDocument/2006/relationships/image" Target="../media/image29.png"/><Relationship Id="rId2" Type="http://schemas.openxmlformats.org/officeDocument/2006/relationships/image" Target="../media/image11.png"/><Relationship Id="rId19" Type="http://schemas.openxmlformats.org/officeDocument/2006/relationships/image" Target="../media/image28.svg"/><Relationship Id="rId18" Type="http://schemas.openxmlformats.org/officeDocument/2006/relationships/image" Target="../media/image27.png"/><Relationship Id="rId17" Type="http://schemas.openxmlformats.org/officeDocument/2006/relationships/image" Target="../media/image26.svg"/><Relationship Id="rId16" Type="http://schemas.openxmlformats.org/officeDocument/2006/relationships/image" Target="../media/image25.png"/><Relationship Id="rId15" Type="http://schemas.openxmlformats.org/officeDocument/2006/relationships/image" Target="../media/image24.svg"/><Relationship Id="rId14" Type="http://schemas.openxmlformats.org/officeDocument/2006/relationships/image" Target="../media/image23.png"/><Relationship Id="rId13" Type="http://schemas.openxmlformats.org/officeDocument/2006/relationships/image" Target="../media/image22.svg"/><Relationship Id="rId12" Type="http://schemas.openxmlformats.org/officeDocument/2006/relationships/image" Target="../media/image21.png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jpe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40.jpeg"/><Relationship Id="rId1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3.sv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49.jpeg"/><Relationship Id="rId10" Type="http://schemas.openxmlformats.org/officeDocument/2006/relationships/image" Target="../media/image48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7.svg"/><Relationship Id="rId7" Type="http://schemas.openxmlformats.org/officeDocument/2006/relationships/image" Target="../media/image56.png"/><Relationship Id="rId6" Type="http://schemas.openxmlformats.org/officeDocument/2006/relationships/image" Target="../media/image55.jpe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50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9.svg"/><Relationship Id="rId1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65.svg"/><Relationship Id="rId7" Type="http://schemas.openxmlformats.org/officeDocument/2006/relationships/image" Target="../media/image64.png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63.svg"/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7.svg"/><Relationship Id="rId7" Type="http://schemas.openxmlformats.org/officeDocument/2006/relationships/image" Target="../media/image56.png"/><Relationship Id="rId6" Type="http://schemas.openxmlformats.org/officeDocument/2006/relationships/image" Target="../media/image71.jpeg"/><Relationship Id="rId5" Type="http://schemas.openxmlformats.org/officeDocument/2006/relationships/image" Target="../media/image70.svg"/><Relationship Id="rId4" Type="http://schemas.openxmlformats.org/officeDocument/2006/relationships/image" Target="../media/image69.png"/><Relationship Id="rId3" Type="http://schemas.openxmlformats.org/officeDocument/2006/relationships/image" Target="../media/image68.jpeg"/><Relationship Id="rId2" Type="http://schemas.openxmlformats.org/officeDocument/2006/relationships/image" Target="../media/image67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5.jpeg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75.svg"/><Relationship Id="rId3" Type="http://schemas.openxmlformats.org/officeDocument/2006/relationships/image" Target="../media/image74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jpeg"/><Relationship Id="rId8" Type="http://schemas.openxmlformats.org/officeDocument/2006/relationships/image" Target="../media/image81.svg"/><Relationship Id="rId7" Type="http://schemas.openxmlformats.org/officeDocument/2006/relationships/image" Target="../media/image80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77.svg"/><Relationship Id="rId3" Type="http://schemas.openxmlformats.org/officeDocument/2006/relationships/image" Target="../media/image76.png"/><Relationship Id="rId2" Type="http://schemas.openxmlformats.org/officeDocument/2006/relationships/image" Target="../media/image3.sv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83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9.svg"/><Relationship Id="rId6" Type="http://schemas.openxmlformats.org/officeDocument/2006/relationships/image" Target="../media/image58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" Type="http://schemas.openxmlformats.org/officeDocument/2006/relationships/image" Target="../media/image84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.svg"/><Relationship Id="rId6" Type="http://schemas.openxmlformats.org/officeDocument/2006/relationships/image" Target="../media/image2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image" Target="../media/image87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90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png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94.svg"/><Relationship Id="rId3" Type="http://schemas.openxmlformats.org/officeDocument/2006/relationships/image" Target="../media/image93.png"/><Relationship Id="rId2" Type="http://schemas.openxmlformats.org/officeDocument/2006/relationships/image" Target="../media/image92.sv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9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101.jpeg"/><Relationship Id="rId3" Type="http://schemas.openxmlformats.org/officeDocument/2006/relationships/image" Target="../media/image100.svg"/><Relationship Id="rId2" Type="http://schemas.openxmlformats.org/officeDocument/2006/relationships/image" Target="../media/image99.png"/><Relationship Id="rId1" Type="http://schemas.openxmlformats.org/officeDocument/2006/relationships/image" Target="../media/image98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jpeg"/><Relationship Id="rId8" Type="http://schemas.openxmlformats.org/officeDocument/2006/relationships/image" Target="../media/image59.svg"/><Relationship Id="rId7" Type="http://schemas.openxmlformats.org/officeDocument/2006/relationships/image" Target="../media/image58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05.svg"/><Relationship Id="rId3" Type="http://schemas.openxmlformats.org/officeDocument/2006/relationships/image" Target="../media/image104.png"/><Relationship Id="rId2" Type="http://schemas.openxmlformats.org/officeDocument/2006/relationships/image" Target="../media/image81.svg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11.jpeg"/><Relationship Id="rId4" Type="http://schemas.openxmlformats.org/officeDocument/2006/relationships/image" Target="../media/image110.svg"/><Relationship Id="rId3" Type="http://schemas.openxmlformats.org/officeDocument/2006/relationships/image" Target="../media/image109.png"/><Relationship Id="rId2" Type="http://schemas.openxmlformats.org/officeDocument/2006/relationships/image" Target="../media/image108.svg"/><Relationship Id="rId1" Type="http://schemas.openxmlformats.org/officeDocument/2006/relationships/image" Target="../media/image10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016000"/>
            <a:ext cx="609600" cy="609600"/>
          </a:xfrm>
          <a:prstGeom prst="rect">
            <a:avLst/>
          </a:prstGeom>
          <a:effectLst>
            <a:outerShdw blurRad="127000" dir="2700000" algn="tl" rotWithShape="0">
              <a:srgbClr val="00BFFF">
                <a:alpha val="5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508000" y="177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基于AI视觉的工业零件缺陷检测方案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基于AI视觉的行业应用创新赛 - 本科组参赛作品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7188">
            <a:off x="4826016" y="3422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286000" y="3810000"/>
            <a:ext cx="762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1000" y="4127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302000" y="4064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学校名称：XX大学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1000" y="4635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302000" y="4572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团队名称：AI视觉先锋队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1000" y="5143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302000" y="5080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成员姓名：张三、李四、王五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1000" y="56515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3302000" y="5588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指导教师：赵老师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810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1816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1778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项目背景与痛点分析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413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25781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2540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应用场景设计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175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33401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3302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20个检测样本说明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3937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41021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4064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数据采集与标注流程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699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0000" y="48641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78000" y="4826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系统架构与模型训练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1651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18161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1778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 模型性能（180秒计时演示）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2413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25781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12000" y="2540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7. 模型质量（20样本识别结果）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3175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04000" y="33401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12000" y="3302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8. 反馈机制展示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3937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04000" y="41021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112000" y="4064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9. 创新点与技术亮点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350000" y="4699000"/>
            <a:ext cx="482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04000" y="48641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112000" y="4826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10. 应用价值与社会意义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0" y="6096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5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0" y="6223000"/>
            <a:ext cx="1219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C4DE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INTELLIGENT INDUSTRIAL INSPECTION SYSTEM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项目背景与痛点分析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cap="flat" cmpd="sng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524000"/>
            <a:ext cx="520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工业4.0时代，制造业对自动化、智能化质检需求迫切。传统人工检测模式效率低、易受主观因素干扰，已难以满足大规模、高精度的生产需求。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当前行业核心痛点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5588000" cy="635000"/>
          </a:xfrm>
          <a:prstGeom prst="roundRect">
            <a:avLst>
              <a:gd name="adj" fmla="val 20000"/>
            </a:avLst>
          </a:prstGeom>
          <a:solidFill>
            <a:srgbClr val="00BFFF">
              <a:alpha val="10000"/>
            </a:srgbClr>
          </a:solidFill>
          <a:ln cap="flat" cmpd="sng">
            <a:solidFill>
              <a:srgbClr val="00ACE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302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175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效率低下：</a:t>
            </a: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人工检测速度慢，无法匹配高速产线节拍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588000" cy="635000"/>
          </a:xfrm>
          <a:prstGeom prst="roundRect">
            <a:avLst>
              <a:gd name="adj" fmla="val 20000"/>
            </a:avLst>
          </a:prstGeom>
          <a:solidFill>
            <a:srgbClr val="00BFFF">
              <a:alpha val="10000"/>
            </a:srgbClr>
          </a:solidFill>
          <a:ln cap="flat" cmpd="sng">
            <a:solidFill>
              <a:srgbClr val="00ACE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064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937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精度不稳定：</a:t>
            </a: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易疲劳导致漏检误判，一致性难以保证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5588000" cy="635000"/>
          </a:xfrm>
          <a:prstGeom prst="roundRect">
            <a:avLst>
              <a:gd name="adj" fmla="val 20000"/>
            </a:avLst>
          </a:prstGeom>
          <a:solidFill>
            <a:srgbClr val="00BFFF">
              <a:alpha val="10000"/>
            </a:srgbClr>
          </a:solidFill>
          <a:ln cap="flat" cmpd="sng">
            <a:solidFill>
              <a:srgbClr val="00ACE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826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469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成本高昂：</a:t>
            </a: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大量人力投入及培训管理成本持续增加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5588000" cy="635000"/>
          </a:xfrm>
          <a:prstGeom prst="roundRect">
            <a:avLst>
              <a:gd name="adj" fmla="val 20000"/>
            </a:avLst>
          </a:prstGeom>
          <a:solidFill>
            <a:srgbClr val="00BFFF">
              <a:alpha val="10000"/>
            </a:srgbClr>
          </a:solidFill>
          <a:ln cap="flat" cmpd="sng">
            <a:solidFill>
              <a:srgbClr val="00ACE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588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60500" y="5461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数据缺失：</a:t>
            </a: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检测数据难追溯，无法支撑质量改进分析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rcRect l="9183" r="9183"/>
          <a:stretch>
            <a:fillRect/>
          </a:stretch>
        </p:blipFill>
        <p:spPr>
          <a:xfrm>
            <a:off x="7112000" y="1397000"/>
            <a:ext cx="2032000" cy="1651000"/>
          </a:xfrm>
          <a:prstGeom prst="roundRect">
            <a:avLst>
              <a:gd name="adj" fmla="val 7692"/>
            </a:avLst>
          </a:prstGeom>
          <a:noFill/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7112000" y="3111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传统人工检测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rcRect t="1492" b="1492"/>
          <a:stretch>
            <a:fillRect/>
          </a:stretch>
        </p:blipFill>
        <p:spPr>
          <a:xfrm>
            <a:off x="9398000" y="1397000"/>
            <a:ext cx="2032000" cy="1651000"/>
          </a:xfrm>
          <a:prstGeom prst="roundRect">
            <a:avLst>
              <a:gd name="adj" fmla="val 7692"/>
            </a:avLst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BFFF">
                <a:alpha val="30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9398000" y="3111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自动化视觉检测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12000" y="3810000"/>
            <a:ext cx="431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302500" y="3937000"/>
            <a:ext cx="393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模式对比：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从“人眼+经验”向“机器视觉+算法”转变，实现24小时不间断、微米级精度的稳定检测，彻底解决传统质检瓶颈。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62C">
                <a:alpha val="100000"/>
              </a:srgbClr>
            </a:gs>
            <a:gs pos="100000">
              <a:srgbClr val="172554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533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解决方案与系统架构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587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460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核心方案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0" y="1841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基于YOLOv8深度学习模型，构建端到端的工业零件缺陷视觉检测系统。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540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系统架构四层模型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984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2946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图像采集层：</a:t>
            </a:r>
            <a:r>
              <a:rPr lang="en-US" sz="1600" b="0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工业相机/高清摄像头，负责采集零件图像。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556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35179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数据预处理层：</a:t>
            </a:r>
            <a:r>
              <a:rPr lang="en-US" sz="1600" b="0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对图像进行去噪、增强、归一化等处理。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127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4089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模型推理层：</a:t>
            </a:r>
            <a:r>
              <a:rPr lang="en-US" sz="1600" b="0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加载YOLOv8模型，对图像进行缺陷检测和分类。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4699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33500" y="46609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结果输出层：</a:t>
            </a:r>
            <a:r>
              <a:rPr lang="en-US" sz="1600" b="0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可视化展示结果，输出报警、分拣等控制信号。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651000"/>
            <a:ext cx="3810000" cy="2540000"/>
          </a:xfrm>
          <a:prstGeom prst="roundRect">
            <a:avLst>
              <a:gd name="adj" fmla="val 500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rcRect t="20833" b="20833"/>
          <a:stretch>
            <a:fillRect/>
          </a:stretch>
        </p:blipFill>
        <p:spPr>
          <a:xfrm>
            <a:off x="6731000" y="2032000"/>
            <a:ext cx="304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6350000" y="431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图：系统架构流程示意图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72554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52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20个检测样本说明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本项目严格按照比赛要求，准备了20个不重复的检测样本，涵盖正常件及各类典型缺陷件，清单如下：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2301" r="2301"/>
          <a:stretch>
            <a:fillRect/>
          </a:stretch>
        </p:blipFill>
        <p:spPr>
          <a:xfrm>
            <a:off x="952500" y="2159000"/>
            <a:ext cx="1016000" cy="1016000"/>
          </a:xfrm>
          <a:prstGeom prst="roundRect">
            <a:avLst>
              <a:gd name="adj" fmla="val 12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095500" y="2032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正常件 (5个)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95500" y="2476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编号：01-05</a:t>
            </a:r>
            <a:b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特征：无缺陷标准件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94200" y="190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12623" r="12623"/>
          <a:stretch>
            <a:fillRect/>
          </a:stretch>
        </p:blipFill>
        <p:spPr>
          <a:xfrm>
            <a:off x="4584700" y="2159000"/>
            <a:ext cx="1016000" cy="1016000"/>
          </a:xfrm>
          <a:prstGeom prst="roundRect">
            <a:avLst>
              <a:gd name="adj" fmla="val 12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727700" y="2032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轻微划痕 (4个)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27700" y="2476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编号：06-09</a:t>
            </a:r>
            <a:b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特征：表面细微划痕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26400" y="190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16900" y="2159000"/>
            <a:ext cx="1016000" cy="1016000"/>
          </a:xfrm>
          <a:prstGeom prst="roundRect">
            <a:avLst>
              <a:gd name="adj" fmla="val 12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9169400" y="2032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严重划痕 (3个)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69400" y="2476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编号：10-12</a:t>
            </a:r>
            <a:b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特征：深度划痕/锈蚀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683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937000"/>
            <a:ext cx="1016000" cy="1016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095500" y="3810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缺角件 (3个)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095500" y="4254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编号：13-15</a:t>
            </a:r>
            <a:b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特征：边缘破损/缺料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94200" y="3683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rcRect t="12483" b="12483"/>
          <a:stretch>
            <a:fillRect/>
          </a:stretch>
        </p:blipFill>
        <p:spPr>
          <a:xfrm>
            <a:off x="4584700" y="3937000"/>
            <a:ext cx="1016000" cy="1016000"/>
          </a:xfrm>
          <a:prstGeom prst="roundRect">
            <a:avLst>
              <a:gd name="adj" fmla="val 12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5727700" y="3810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变形件 (3个)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727700" y="4254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编号：16-18</a:t>
            </a:r>
            <a:b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特征：螺纹/本体变形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26400" y="3683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16900" y="3937000"/>
            <a:ext cx="1016000" cy="1016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359900" y="3810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混料件 (2个)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359900" y="4254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编号：19-20</a:t>
            </a:r>
            <a:b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特征：规格错件/混装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715000"/>
            <a:ext cx="106426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62000" y="5842000"/>
            <a:ext cx="10642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样本覆盖全场景 · 缺陷类型全覆盖 · 确保检测算法鲁棒性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227965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模型质量（20样本识别结果 - 上）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6296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为了全面评估模型质量，我们对20个样本进行了实际检测，以下展示前10个样本的详细识别情况。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421765"/>
          <a:ext cx="10668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048000"/>
                <a:gridCol w="3048000"/>
                <a:gridCol w="3048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样本编号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样本类别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模型识别结果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是否正确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4D3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4D3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4D3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4D3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4D3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轻微划痕件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轻微划痕件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4D3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轻微划痕件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轻微划痕件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4D3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轻微划痕件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轻微划痕件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4D3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轻微划痕件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CA5A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CA5A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严重划痕件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0F7F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严重划痕件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4D3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6070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63500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结论：前10个样本中，除第9号轻微划痕件被误判外，其余样本均正确识别，整体准确率表现良好。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72554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4055" y="1397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模型质量（20样本识别结果 - 下）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94055" y="76835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8055" y="95885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56055" y="89535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整体识别准确率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95%</a:t>
            </a:r>
            <a:endParaRPr lang="en-US" sz="2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4055" y="95885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012055" y="89535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测试样本总量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 个</a:t>
            </a:r>
            <a:endParaRPr lang="en-US" sz="2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10" name="Table 1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775335" y="1873250"/>
          <a:ext cx="10654665" cy="46431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96110"/>
                <a:gridCol w="2877820"/>
                <a:gridCol w="2877820"/>
                <a:gridCol w="3002915"/>
              </a:tblGrid>
              <a:tr h="47752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样本编号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样本类别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模型识别结果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是否正确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</a:tr>
              <a:tr h="4165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11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严重划痕件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严重划痕件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2C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400" b="0" i="0" u="none" strike="noStrike">
                        <a:solidFill>
                          <a:srgbClr val="32CD32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严重划痕件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严重划痕件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2C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400" b="0" i="0" u="none" strike="noStrike">
                        <a:solidFill>
                          <a:srgbClr val="32CD32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13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缺角件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缺角件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2C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400" b="0" i="0" u="none" strike="noStrike">
                        <a:solidFill>
                          <a:srgbClr val="32CD32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14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缺角件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缺角件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2C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400" b="0" i="0" u="none" strike="noStrike">
                        <a:solidFill>
                          <a:srgbClr val="32CD32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15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缺角件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缺角件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2C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400" b="0" i="0" u="none" strike="noStrike">
                        <a:solidFill>
                          <a:srgbClr val="32CD32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16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变形件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变形件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2C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400" b="0" i="0" u="none" strike="noStrike">
                        <a:solidFill>
                          <a:srgbClr val="32CD32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17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变形件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变形件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2C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400" b="0" i="0" u="none" strike="noStrike">
                        <a:solidFill>
                          <a:srgbClr val="32CD32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18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变形件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变形件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2C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400" b="0" i="0" u="none" strike="noStrike">
                        <a:solidFill>
                          <a:srgbClr val="32CD32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19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混料件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混料件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2C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400" b="0" i="0" u="none" strike="noStrike">
                        <a:solidFill>
                          <a:srgbClr val="32CD32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混料件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0F2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混料件</a:t>
                      </a:r>
                      <a:endParaRPr lang="en-US" sz="1400" b="0" i="0" u="none" strike="noStrike">
                        <a:solidFill>
                          <a:srgbClr val="E0F2FE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2C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400" b="0" i="0" u="none" strike="noStrike">
                        <a:solidFill>
                          <a:srgbClr val="32CD32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AutoShape 11"/>
          <p:cNvSpPr/>
          <p:nvPr/>
        </p:nvSpPr>
        <p:spPr>
          <a:xfrm>
            <a:off x="2933065" y="6605270"/>
            <a:ext cx="682053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这是后10个样本的识别结果，所有样本均被正确识别。结合前10个样本的检测结果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（其中1个轻微划痕样本被误判），模型整体识别准确率达到95%，完全满足比赛要求。</a:t>
            </a:r>
            <a:endParaRPr lang="en-US" sz="1100"/>
          </a:p>
        </p:txBody>
      </p:sp>
      <p:pic>
        <p:nvPicPr>
          <p:cNvPr id="12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0055" y="1006475"/>
            <a:ext cx="406400" cy="406400"/>
          </a:xfrm>
          <a:prstGeom prst="rect">
            <a:avLst/>
          </a:prstGeom>
        </p:spPr>
      </p:pic>
      <p:sp>
        <p:nvSpPr>
          <p:cNvPr id="13" name="AutoShape 9"/>
          <p:cNvSpPr/>
          <p:nvPr>
            <p:custDataLst>
              <p:tags r:id="rId9"/>
            </p:custDataLst>
          </p:nvPr>
        </p:nvSpPr>
        <p:spPr>
          <a:xfrm>
            <a:off x="8568055" y="968375"/>
            <a:ext cx="254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误判样本数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FF6B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个</a:t>
            </a:r>
            <a:endParaRPr lang="en-US" sz="2400" b="1" i="0" u="none" strike="noStrike">
              <a:solidFill>
                <a:srgbClr val="FF6B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826">
                <a:alpha val="100000"/>
              </a:srgbClr>
            </a:gs>
            <a:gs pos="100000">
              <a:srgbClr val="0A101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反馈机制展示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合格件反馈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05000" y="2286000"/>
            <a:ext cx="1524000" cy="1524000"/>
          </a:xfrm>
          <a:prstGeom prst="roundRect">
            <a:avLst>
              <a:gd name="adj" fmla="val 8333"/>
            </a:avLst>
          </a:prstGeom>
          <a:noFill/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016000" y="3937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系统检测到合格零件时，自动用绿色框标注，并语音播报“合格”，界面同步显示绿色对勾图标。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803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缺陷件反馈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93000" y="2286000"/>
            <a:ext cx="1524000" cy="1524000"/>
          </a:xfrm>
          <a:prstGeom prst="roundRect">
            <a:avLst>
              <a:gd name="adj" fmla="val 8333"/>
            </a:avLst>
          </a:prstGeom>
          <a:noFill/>
          <a:ln w="12700" cap="flat" cmpd="sng">
            <a:solidFill>
              <a:srgbClr val="EF4444">
                <a:alpha val="50000"/>
              </a:srgbClr>
            </a:solidFill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604000" y="3937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检测到缺陷时，红色框定位缺陷区域，弹窗警告并语音播报类型（如“划痕”），同时自动记录日志。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651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56134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系统通过</a:t>
            </a: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视觉高亮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语音交互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8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日志追溯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三重机制，确保检测结果及时、准确传达。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数据采集与标注流程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460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33500" y="1422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数据采集规范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样本选择：</a:t>
            </a: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选取螺丝、螺母等常见小型工业零件。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样本数量：</a:t>
            </a: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20个不同状态样本（正常/划痕/缺角/变形）。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采集方式：</a:t>
            </a: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固定相机、光照和角度，确保质量一致。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270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1460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794500" y="1422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数据标注标准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1841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标注工具：</a:t>
            </a: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LabelImg 专业标注工具进行操作。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标注格式：</a:t>
            </a: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YOLO 格式，包含边界框与类别信息。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标注要求：</a:t>
            </a: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对每个缺陷区域进行精准定位与分类。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175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典型样本展示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 t="10748" b="10748"/>
          <a:stretch>
            <a:fillRect/>
          </a:stretch>
        </p:blipFill>
        <p:spPr>
          <a:xfrm>
            <a:off x="1397000" y="3556000"/>
            <a:ext cx="2032000" cy="1524000"/>
          </a:xfrm>
          <a:prstGeom prst="roundRect">
            <a:avLst>
              <a:gd name="adj" fmla="val 8333"/>
            </a:avLst>
          </a:prstGeom>
          <a:noFill/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1397000" y="5207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正常零件样本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l="168" r="168"/>
          <a:stretch>
            <a:fillRect/>
          </a:stretch>
        </p:blipFill>
        <p:spPr>
          <a:xfrm>
            <a:off x="3683000" y="3556000"/>
            <a:ext cx="2032000" cy="1524000"/>
          </a:xfrm>
          <a:prstGeom prst="roundRect">
            <a:avLst>
              <a:gd name="adj" fmla="val 8333"/>
            </a:avLst>
          </a:prstGeom>
          <a:noFill/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683000" y="5207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表面划痕缺陷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t="21865" b="21865"/>
          <a:stretch>
            <a:fillRect/>
          </a:stretch>
        </p:blipFill>
        <p:spPr>
          <a:xfrm>
            <a:off x="5969000" y="3556000"/>
            <a:ext cx="2032000" cy="1524000"/>
          </a:xfrm>
          <a:prstGeom prst="roundRect">
            <a:avLst>
              <a:gd name="adj" fmla="val 8333"/>
            </a:avLst>
          </a:prstGeom>
          <a:noFill/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5969000" y="5207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结构变形缺陷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092">
            <a:off x="762004" y="570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95E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通过标准化的采集与精准标注，构建高质量数据集，为模型训练提供坚实基础。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系统架构与模型训练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752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核心模型：YOLOv8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97000" y="2095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兼顾速度与精度，易于部署，完美适配实时检测场景需求。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7305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92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8321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训练平台：百度AI Studio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97000" y="317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提供高性能计算资源与便捷的环境配置，加速模型迭代效率。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8100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00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3911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超参数配置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397000" y="425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输入尺寸640x640 | 批次8 | 学习率0.01 | 训练轮数100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895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080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9911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训练收敛趋势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397000" y="533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损失函数持续下降，验证集准确率稳步提升，模型泛化性良好。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651000"/>
            <a:ext cx="2540000" cy="2489200"/>
          </a:xfrm>
          <a:prstGeom prst="roundRect">
            <a:avLst>
              <a:gd name="adj" fmla="val 5102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286500" y="1714500"/>
            <a:ext cx="2413000" cy="2362200"/>
          </a:xfrm>
          <a:prstGeom prst="roundRect">
            <a:avLst>
              <a:gd name="adj" fmla="val 268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6223000" y="419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YOLOv8 网络结构示意图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17000" y="1651000"/>
            <a:ext cx="2540000" cy="2489200"/>
          </a:xfrm>
          <a:prstGeom prst="roundRect">
            <a:avLst>
              <a:gd name="adj" fmla="val 5102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080500" y="1714500"/>
            <a:ext cx="2413000" cy="1562100"/>
          </a:xfrm>
          <a:prstGeom prst="roundRect">
            <a:avLst>
              <a:gd name="adj" fmla="val 406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9017000" y="419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模型训练损失下降曲线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0B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2000" y="6604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© 2025 AI Model Training Report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模型效果展示 - 正常件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651000"/>
            <a:ext cx="3048000" cy="3048000"/>
          </a:xfrm>
          <a:prstGeom prst="roundRect">
            <a:avLst>
              <a:gd name="adj" fmla="val 4166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00BFFF">
                <a:alpha val="30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762000" y="482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正常零件实拍检测图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318000" y="1651000"/>
            <a:ext cx="711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模型能够准确识别正常零件，自动生成绿色检测框进行定位，并在结果栏清晰标注“合格”字样。经大量测试验证，该模型在正常件识别任务中表现稳定，无漏检、无误判。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0" y="29210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00" y="3111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016500" y="3073400"/>
            <a:ext cx="127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检测状态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3619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判定结果：</a:t>
            </a: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94500" y="29210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0" y="3111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93000" y="3073400"/>
            <a:ext cx="127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识别精度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85000" y="3619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正常件精度：</a:t>
            </a: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271000" y="29210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1500" y="3111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969500" y="3073400"/>
            <a:ext cx="127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误判率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461500" y="3619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测试误判：</a:t>
            </a: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0%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092">
            <a:off x="762004" y="5708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C4DE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数据来源：2025年Q1模型测试报告 | 样本量：10,000+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72554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53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模型效果展示 - 划痕缺陷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9000" y="1778000"/>
            <a:ext cx="3302000" cy="3302000"/>
          </a:xfrm>
          <a:prstGeom prst="roundRect">
            <a:avLst>
              <a:gd name="adj" fmla="val 384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5334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图1：螺丝零件划痕缺陷检测实景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26000" y="1651000"/>
            <a:ext cx="6604000" cy="1270000"/>
          </a:xfrm>
          <a:prstGeom prst="roundRect">
            <a:avLst>
              <a:gd name="adj" fmla="val 10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94A3B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0" y="1968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842000" y="1841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精准定位与识别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42000" y="22225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模型能够自动扫描零件表面，精准识别不同程度的划痕缺陷，无论是细微划痕还是深度损伤均能有效捕捉。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26000" y="3175000"/>
            <a:ext cx="6604000" cy="1270000"/>
          </a:xfrm>
          <a:prstGeom prst="roundRect">
            <a:avLst>
              <a:gd name="adj" fmla="val 10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94A3B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3492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842000" y="3365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智能标注可视化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42000" y="37465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自动生成红色检测框锁定缺陷区域，并叠加“划痕缺陷”文字标签，检测结果直观呈现，便于人工复核。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4699000"/>
            <a:ext cx="6604000" cy="1270000"/>
          </a:xfrm>
          <a:prstGeom prst="roundRect">
            <a:avLst>
              <a:gd name="adj" fmla="val 10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94A3B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0" y="5016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842000" y="4889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工业级可靠性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842000" y="52705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算法针对工业复杂环境优化，抗干扰能力强，在流水线作业中保持高准确率与低误报率。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模型效果展示 - 缺角/变形缺陷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048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9000" y="1905000"/>
            <a:ext cx="2794000" cy="2794000"/>
          </a:xfrm>
          <a:prstGeom prst="roundRect">
            <a:avLst>
              <a:gd name="adj" fmla="val 454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95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▲ 缺陷检测识别示例图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1778000"/>
            <a:ext cx="7112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0" y="2222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70500" y="2286000"/>
            <a:ext cx="596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精准识别形态类缺陷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3048000"/>
            <a:ext cx="635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模型能够精准识别零件的形态类缺陷，如边缘缺角、螺纹变形等，并通过红色框体高亮显示缺陷区域，实现快速定位和分类。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模型性能（180秒计时演示）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905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 (Precision)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286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95%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04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召回率 (Recall)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8000" y="3429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92%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4191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平均精度均值 (mAP)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457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93%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461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5334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推理速度 (Inference Speed)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78000" y="5715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 0.1 秒/张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44450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20个样本总耗时：120秒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演示流程：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1.摆放样本 → 2.启动系统 → 3.自动推理 → 4.输出结果 → 5.统计耗时</a:t>
            </a:r>
            <a:endParaRPr lang="en-US" sz="12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4000" y="1269365"/>
            <a:ext cx="4032885" cy="34118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创新点与技术亮点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1841500"/>
            <a:ext cx="762000" cy="762000"/>
          </a:xfrm>
          <a:prstGeom prst="roundRect">
            <a:avLst>
              <a:gd name="adj" fmla="val 2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032000" y="1714500"/>
            <a:ext cx="361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轻量化边缘部署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2159000"/>
            <a:ext cx="361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采用YOLOv8-nano模型，在保证精度的前提下，实现了在低成本嵌入式设备上的实时检测，便于大规模工业部署。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86500" y="1524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500" y="18415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556500" y="1714500"/>
            <a:ext cx="361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多缺陷融合检测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556500" y="2159000"/>
            <a:ext cx="361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系统能够同时检测并分类划痕、缺角、变形、混料等多种常见缺陷，实现了一站式质检。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4000500"/>
            <a:ext cx="762000" cy="762000"/>
          </a:xfrm>
          <a:prstGeom prst="roundRect">
            <a:avLst>
              <a:gd name="adj" fmla="val 2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2032000" y="3873500"/>
            <a:ext cx="361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工业级闭环反馈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032000" y="4318000"/>
            <a:ext cx="361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检测结果不仅通过声光和弹窗实时报警，还会自动记录日志，形成从检测到质量追溯的完整闭环。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3683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4000500"/>
            <a:ext cx="762000" cy="762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556500" y="3873500"/>
            <a:ext cx="361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低成本高鲁棒性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556500" y="4318000"/>
            <a:ext cx="361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方案仅需普通工业相机即可运行，通过数据增强等技术，有效克服了光照变化、拍摄角度偏移等工业现场干扰，鲁棒性强。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428">
                <a:alpha val="100000"/>
              </a:srgbClr>
            </a:gs>
            <a:gs pos="100000">
              <a:srgbClr val="141E3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应用价值与社会意义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714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可落地性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460500" y="2095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方案硬件成本低，软件部署简单，可快速适配不同产线。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111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2984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可推广性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60500" y="3365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检测算法具有通用性，可迁移至其他类型的小型零件检测场景。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381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4254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可转化前景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60500" y="4635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已与XX工厂达成初步合作意向，具备良好的商业转化潜力。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461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651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60500" y="5524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解决真实痛点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460500" y="5905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直接解决了当前工厂人工检测效率低、漏检率高的核心问题。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1778000"/>
            <a:ext cx="4953000" cy="3708400"/>
          </a:xfrm>
          <a:prstGeom prst="roundRect">
            <a:avLst>
              <a:gd name="adj" fmla="val 3424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rcRect t="443" b="443"/>
          <a:stretch>
            <a:fillRect/>
          </a:stretch>
        </p:blipFill>
        <p:spPr>
          <a:xfrm>
            <a:off x="6540500" y="1841500"/>
            <a:ext cx="4826000" cy="3581400"/>
          </a:xfrm>
          <a:prstGeom prst="roundRect">
            <a:avLst>
              <a:gd name="adj" fmla="val 354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6477000" y="5588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现代化智能工厂实景：自动化机械臂作业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总结与未来展望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5494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143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68500"/>
            <a:ext cx="584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成功构建了基于AI视觉的工业零件缺陷检测系统，完全满足比赛的各项硬性指标（20个样本、180秒内完成、反馈机制等），实现了对多种常见缺陷的准确识别，达到了预期目标。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073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3048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84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扩展检测种类，支持更多类型的零件和缺陷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84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优化模型，进一步提升检测精度和速度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84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开发更完善的用户交互界面和数据管理平台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84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探索与工业机器人集成，实现全自动化流程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85000" y="1524000"/>
            <a:ext cx="4318000" cy="2425700"/>
          </a:xfrm>
          <a:prstGeom prst="roundRect">
            <a:avLst>
              <a:gd name="adj" fmla="val 5235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112000" y="1651000"/>
            <a:ext cx="4064000" cy="2286000"/>
          </a:xfrm>
          <a:prstGeom prst="roundRect">
            <a:avLst>
              <a:gd name="adj" fmla="val 555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00BFFF">
                <a:alpha val="40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6985000" y="406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智能化工业检测的未来愿景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588000"/>
            <a:ext cx="584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推动技术标准化，探索产业化应用路径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5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决赛现场演示流程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样本摆放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将20个标注好的零件样本依次摆放在检测区域。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系统启动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打开视觉检测软件，确认所有参数设置正确。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4318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自动检测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点击“开始检测”，系统自动对20个样本进行拍照和推理。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1778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结果展示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实时展示每个样本的检测结果（合格/缺陷类型），并进行声光反馈。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3048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数据统计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检测完成后，系统自动显示总耗时（预计120秒）和整体识别准确率（预计95%以上）。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4318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 评委互动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接受评委关于技术细节和应用场景的提问。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651000"/>
            <a:ext cx="609600" cy="609600"/>
          </a:xfrm>
          <a:prstGeom prst="rect">
            <a:avLst/>
          </a:prstGeom>
          <a:effectLst>
            <a:outerShdw blurRad="127000" dir="2700000" algn="tl" rotWithShape="0">
              <a:srgbClr val="00BFFF">
                <a:alpha val="5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749800" y="2413000"/>
            <a:ext cx="269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365500"/>
            <a:ext cx="76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746500" y="3683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感谢评委老师的指导与评审！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064000" y="2603500"/>
            <a:ext cx="25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0" i="0" u="none" strike="noStrike">
                <a:solidFill>
                  <a:srgbClr val="00BFFF">
                    <a:alpha val="3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[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874000" y="2603500"/>
            <a:ext cx="25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0" i="0" u="none" strike="noStrike">
                <a:solidFill>
                  <a:srgbClr val="00BFFF">
                    <a:alpha val="3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]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5*354"/>
  <p:tag name="TABLE_ENDDRAG_RECT" val="74*158*825*354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MmIyMWM2MmQzMDdiNDYzYmIzNGMzMDE4YTFjNTYyNz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3381</Words>
  <Application>WPS 演示</Application>
  <PresentationFormat/>
  <Paragraphs>513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WPS_1726287565</cp:lastModifiedBy>
  <cp:revision>2</cp:revision>
  <dcterms:created xsi:type="dcterms:W3CDTF">2026-03-24T06:12:00Z</dcterms:created>
  <dcterms:modified xsi:type="dcterms:W3CDTF">2026-04-01T11:44:52Z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1D90B8AB267E4364A70FB63638DA7810_13</vt:lpwstr>
  </property>
  <property fmtid="{D5CDD505-2E9C-101B-9397-08002B2CF9AE}" pid="3" name="KSOProductBuildVer">
    <vt:lpwstr>2052-12.1.0.25225</vt:lpwstr>
  </property>
</Properties>
</file>